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1" r:id="rId7"/>
    <p:sldId id="262" r:id="rId8"/>
    <p:sldId id="264" r:id="rId9"/>
    <p:sldId id="263" r:id="rId10"/>
    <p:sldId id="258" r:id="rId11"/>
    <p:sldId id="265" r:id="rId12"/>
    <p:sldId id="267" r:id="rId13"/>
    <p:sldId id="269" r:id="rId14"/>
    <p:sldId id="259" r:id="rId15"/>
    <p:sldId id="260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B4BDD-0499-2A97-0704-9C33204D6360}" v="1" dt="2026-10-10T18:32:11.144"/>
    <p1510:client id="{FE523BAB-D97A-EB0B-8CB0-DF2E82876FAF}" v="11" dt="2026-10-12T11:41:02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66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ARDA GÖNEL" userId="S::m.gonel2023@gtu.edu.tr::bf098d08-fb3b-4013-b2ef-45f52828e3d0" providerId="AD" clId="Web-{51FB4BDD-0499-2A97-0704-9C33204D6360}"/>
    <pc:docChg chg="sldOrd">
      <pc:chgData name="MEHMET ARDA GÖNEL" userId="S::m.gonel2023@gtu.edu.tr::bf098d08-fb3b-4013-b2ef-45f52828e3d0" providerId="AD" clId="Web-{51FB4BDD-0499-2A97-0704-9C33204D6360}" dt="2026-10-10T18:32:11.144" v="0"/>
      <pc:docMkLst>
        <pc:docMk/>
      </pc:docMkLst>
      <pc:sldChg chg="ord">
        <pc:chgData name="MEHMET ARDA GÖNEL" userId="S::m.gonel2023@gtu.edu.tr::bf098d08-fb3b-4013-b2ef-45f52828e3d0" providerId="AD" clId="Web-{51FB4BDD-0499-2A97-0704-9C33204D6360}" dt="2026-10-10T18:32:11.144" v="0"/>
        <pc:sldMkLst>
          <pc:docMk/>
          <pc:sldMk cId="49261907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12.10.2026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68526"/>
            <a:ext cx="7924800" cy="1679575"/>
          </a:xfrm>
        </p:spPr>
        <p:txBody>
          <a:bodyPr/>
          <a:lstStyle/>
          <a:p>
            <a:pPr>
              <a:defRPr sz="3400" b="1">
                <a:solidFill>
                  <a:srgbClr val="0A1E50"/>
                </a:solidFill>
              </a:defRPr>
            </a:pPr>
            <a:r>
              <a:t>Nuada: Bionic Hand Movement Estimation via TinyML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defRPr sz="1700" b="1">
                <a:solidFill>
                  <a:srgbClr val="143264"/>
                </a:solidFill>
              </a:defRPr>
            </a:pPr>
            <a:r>
              <a:t>Edge-AI Hand Gesture Classification via Multi-Channel sEMG and IMU Fusion</a:t>
            </a:r>
            <a:endParaRPr lang="tr-TR" dirty="0"/>
          </a:p>
          <a:p>
            <a:pPr>
              <a:defRPr sz="1500" b="0">
                <a:solidFill>
                  <a:srgbClr val="464646"/>
                </a:solidFill>
              </a:defRPr>
            </a:pPr>
            <a:r>
              <a:t>CSE 496 - Graduation Project Proposal Presentation</a:t>
            </a:r>
          </a:p>
          <a:p>
            <a:pPr>
              <a:defRPr sz="800" b="0">
                <a:solidFill>
                  <a:srgbClr val="000000"/>
                </a:solidFill>
              </a:defRPr>
            </a:pPr>
          </a:p>
          <a:p>
            <a:pPr>
              <a:defRPr sz="1600" b="1">
                <a:solidFill>
                  <a:srgbClr val="1E1E1E"/>
                </a:solidFill>
              </a:defRPr>
            </a:pPr>
            <a:r>
              <a:t>Researchers: Nuri Ziya Kırtepe &amp; Evrim Doğa Solmaz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Advisor: Asst. Prof. Alp Arslan Bayrakci</a:t>
            </a:r>
          </a:p>
          <a:p>
            <a:pPr>
              <a:defRPr sz="1300" b="0">
                <a:solidFill>
                  <a:srgbClr val="505050"/>
                </a:solidFill>
              </a:defRPr>
            </a:pPr>
            <a:r>
              <a:t>Department of Computer Engineering, Gebze Technical University</a:t>
            </a:r>
          </a:p>
          <a:p>
            <a:pPr>
              <a:defRPr sz="1300" b="0">
                <a:solidFill>
                  <a:srgbClr val="646464"/>
                </a:solidFill>
              </a:defRPr>
            </a:pPr>
            <a: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1. Project Definition &amp; Motivation (Affordable Bionic Hand Control)</a:t>
            </a:r>
          </a:p>
          <a:p>
            <a:pPr>
              <a:defRPr sz="1600" b="1"/>
            </a:pPr>
            <a:r>
              <a:t>2. Project Design &amp; System Architecture (Dual-Core FreeRTOS Pipeline)</a:t>
            </a:r>
          </a:p>
          <a:p>
            <a:pPr>
              <a:defRPr sz="1600" b="1"/>
            </a:pPr>
            <a:r>
              <a:t>3. Hardware Selection &amp; Cost Optimization (AD8232 vs. MyoWare 2.0)</a:t>
            </a:r>
          </a:p>
          <a:p>
            <a:pPr>
              <a:defRPr sz="1600" b="1"/>
            </a:pPr>
            <a:r>
              <a:t>4. Hardware Engineering: AD8232 EKG to sEMG Modification (10x Savings)</a:t>
            </a:r>
          </a:p>
          <a:p>
            <a:pPr>
              <a:defRPr sz="1600" b="0"/>
            </a:pPr>
            <a:r>
              <a:t>5. Circuit Layout Verification &amp; Safe Laboratory Soldering Protocol</a:t>
            </a:r>
          </a:p>
          <a:p>
            <a:pPr>
              <a:defRPr sz="1600" b="0"/>
            </a:pPr>
            <a:r>
              <a:t>6. Project Requirements (Hardware, Software, Subject Protocol)</a:t>
            </a:r>
          </a:p>
          <a:p>
            <a:pPr>
              <a:defRPr sz="1600" b="1"/>
            </a:pPr>
            <a:r>
              <a:t>7. Concrete &amp; Testable Success Criteria (Quantitative Thresholds)</a:t>
            </a:r>
          </a:p>
          <a:p>
            <a:pPr>
              <a:defRPr sz="1600" b="1"/>
            </a:pPr>
            <a:r>
              <a:t>8. Project Timeline &amp; Monthly Milestones (Oct 2026 – Apr 2027)</a:t>
            </a:r>
          </a:p>
          <a:p>
            <a:pPr>
              <a:defRPr sz="1600" b="0"/>
            </a:pPr>
            <a:r>
              <a:t>9. References &amp; 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Definition &amp; Motivation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5672830" y="1409700"/>
            <a:ext cx="6250885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500" b="1">
                <a:solidFill>
                  <a:srgbClr val="A01414"/>
                </a:solidFill>
              </a:defRPr>
            </a:pPr>
            <a:r>
              <a:t>Economic Problem &amp; Need:</a:t>
            </a:r>
            <a:endParaRPr lang="tr-TR" dirty="0"/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Commercial active myoelectric prostheses cost between $10,000 and $50,000, creating an insurmountable economic barrier for over 90% of amputees globally.</a:t>
            </a:r>
          </a:p>
          <a:p>
            <a:pPr>
              <a:defRPr sz="1500" b="1">
                <a:solidFill>
                  <a:srgbClr val="0A5096"/>
                </a:solidFill>
              </a:defRPr>
            </a:pPr>
            <a:r>
              <a:t>Nuada Project Vision: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An ultra-affordable (&lt; $30 total hardware kit), wearable, real-time hand gesture recognition system for bionic hand actuation.</a:t>
            </a:r>
          </a:p>
          <a:p>
            <a:pPr>
              <a:defRPr sz="1400" b="1">
                <a:solidFill>
                  <a:srgbClr val="146428"/>
                </a:solidFill>
              </a:defRPr>
            </a:pPr>
            <a:r>
              <a:t>Dual-Sensing Modality (Overcoming Limb Position Drift):</a:t>
            </a:r>
          </a:p>
          <a:p>
            <a:pPr>
              <a:defRPr sz="1250" b="0">
                <a:solidFill>
                  <a:srgbClr val="323232"/>
                </a:solidFill>
              </a:defRPr>
            </a:pPr>
            <a:r>
              <a:t>• 4-Channel sEMG: Surface electrodes capture motor unit action potentials from forearm flexor/extensor muscle groups.</a:t>
            </a:r>
          </a:p>
          <a:p>
            <a:pPr>
              <a:defRPr sz="1250" b="0">
                <a:solidFill>
                  <a:srgbClr val="323232"/>
                </a:solidFill>
              </a:defRPr>
            </a:pPr>
            <a:r>
              <a:t>• 6-Axis IMU on Forearm: Tracks arm elevation (Pitch/Roll) to cancel gravity-induced EMG pattern distortion.</a:t>
            </a:r>
          </a:p>
          <a:p>
            <a:pPr>
              <a:defRPr sz="1400" b="1">
                <a:solidFill>
                  <a:srgbClr val="6E288C"/>
                </a:solidFill>
              </a:defRPr>
            </a:pPr>
            <a:r>
              <a:t>Zero Cloud Latency &amp; Standalone Edge Intelligence:</a:t>
            </a:r>
          </a:p>
          <a:p>
            <a:pPr>
              <a:defRPr sz="1250" b="0">
                <a:solidFill>
                  <a:srgbClr val="323232"/>
                </a:solidFill>
              </a:defRPr>
            </a:pPr>
            <a:r>
              <a:t>• Quantized TinyML models execute directly on-device on an ESP32-S3 microcontroller (&lt; 25 ms inference time).</a:t>
            </a:r>
          </a:p>
          <a:p>
            <a:pPr>
              <a:defRPr sz="1250" b="0">
                <a:solidFill>
                  <a:srgbClr val="323232"/>
                </a:solidFill>
              </a:defRPr>
            </a:pPr>
            <a:r>
              <a:t>• 5-Class Functional Gestures: Rest, Power Grasp, Open Hand, Pinch, Point mapped to a 3-finger (Thumb, Index, Middle) bionic hand and WebGL 3D Digital Twin.</a:t>
            </a:r>
          </a:p>
        </p:txBody>
      </p:sp>
      <p:sp>
        <p:nvSpPr>
          <p:cNvPr id="9" name="İçerik Yer Tutucusu 2"/>
          <p:cNvSpPr txBox="1">
            <a:spLocks/>
          </p:cNvSpPr>
          <p:nvPr/>
        </p:nvSpPr>
        <p:spPr>
          <a:xfrm>
            <a:off x="554453" y="5175689"/>
            <a:ext cx="11637547" cy="125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10" name="Picture 9" descr="emg_armband_plac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21208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Design &amp; System Architecture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190912" y="1455269"/>
            <a:ext cx="4838330" cy="4991100"/>
          </a:xfrm>
        </p:spPr>
        <p:txBody>
          <a:bodyPr>
            <a:normAutofit lnSpcReduction="10000"/>
          </a:bodyPr>
          <a:lstStyle/>
          <a:p>
            <a:pPr>
              <a:defRPr sz="1500" b="1">
                <a:solidFill>
                  <a:srgbClr val="0A3278"/>
                </a:solidFill>
              </a:defRPr>
            </a:pPr>
            <a:r>
              <a:t>End-to-End System Breakdown:</a:t>
            </a:r>
          </a:p>
          <a:p>
            <a:pPr>
              <a:defRPr sz="1350" b="1">
                <a:solidFill>
                  <a:srgbClr val="007896"/>
                </a:solidFill>
              </a:defRPr>
            </a:pPr>
            <a:r>
              <a:t>1. Front-End Acquisition &amp; Sensing Layer: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4x AD8232 front-ends (1100x gain, modified 410 Hz LPF).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1x MPU-6050 6-axis IMU over I2C Fast-Mode (400 kHz).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Reusable snap armband + medical conductive gel.</a:t>
            </a:r>
          </a:p>
          <a:p>
            <a:pPr>
              <a:defRPr sz="1350" b="1">
                <a:solidFill>
                  <a:srgbClr val="6E2896"/>
                </a:solidFill>
              </a:defRPr>
            </a:pPr>
            <a:r>
              <a:t>2. Dual-Core FreeRTOS Pipeline on ESP32-S3:</a:t>
            </a:r>
          </a:p>
          <a:p>
            <a:pPr>
              <a:defRPr sz="1200" b="1">
                <a:solidFill>
                  <a:srgbClr val="3C3C3C"/>
                </a:solidFill>
              </a:defRPr>
            </a:pPr>
            <a:r>
              <a:t>• Core 0 (Acquisition &amp; DSP Task @ 1000 Hz):</a:t>
            </a:r>
          </a:p>
          <a:p>
            <a:pPr>
              <a:defRPr sz="1150" b="0">
                <a:solidFill>
                  <a:srgbClr val="323232"/>
                </a:solidFill>
              </a:defRPr>
            </a:pPr>
            <a:r>
              <a:t>  - 12-bit ADC1 DMA double-buffering.</a:t>
            </a:r>
          </a:p>
          <a:p>
            <a:pPr>
              <a:defRPr sz="1150" b="0">
                <a:solidFill>
                  <a:srgbClr val="323232"/>
                </a:solidFill>
              </a:defRPr>
            </a:pPr>
            <a:r>
              <a:t>  - 20 Hz HPF + 50 Hz Notch digital filtering.</a:t>
            </a:r>
          </a:p>
          <a:p>
            <a:pPr>
              <a:defRPr sz="1150" b="0">
                <a:solidFill>
                  <a:srgbClr val="323232"/>
                </a:solidFill>
              </a:defRPr>
            </a:pPr>
            <a:r>
              <a:t>  - 200 ms sliding window feature extraction (MAV, RMS, WL, ZC, WAMP, Pitch/Roll).</a:t>
            </a:r>
          </a:p>
          <a:p>
            <a:pPr>
              <a:defRPr sz="1200" b="1">
                <a:solidFill>
                  <a:srgbClr val="3C3C3C"/>
                </a:solidFill>
              </a:defRPr>
            </a:pPr>
            <a:r>
              <a:t>• Core 1 (TinyML Inference Task @ 20 Hz):</a:t>
            </a:r>
          </a:p>
          <a:p>
            <a:pPr>
              <a:defRPr sz="1150" b="0">
                <a:solidFill>
                  <a:srgbClr val="323232"/>
                </a:solidFill>
              </a:defRPr>
            </a:pPr>
            <a:r>
              <a:t>  - Quantized INT8 model inference (TFLite Micro).</a:t>
            </a:r>
          </a:p>
          <a:p>
            <a:pPr>
              <a:defRPr sz="1150" b="0">
                <a:solidFill>
                  <a:srgbClr val="323232"/>
                </a:solidFill>
              </a:defRPr>
            </a:pPr>
            <a:r>
              <a:t>  - 5-Class gesture classification + majority voting.</a:t>
            </a:r>
          </a:p>
          <a:p>
            <a:pPr>
              <a:defRPr sz="1350" b="1">
                <a:solidFill>
                  <a:srgbClr val="A01E50"/>
                </a:solidFill>
              </a:defRPr>
            </a:pPr>
            <a:r>
              <a:t>3. Actuation &amp; Digital Twin Telemetry: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PWM servo driving 3D bionic fingers (Thumb, Index, Middle).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WebSocket telemetry to Three.js 3D WebGL Digital Twin (&lt; 50 ms).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pic>
        <p:nvPicPr>
          <p:cNvPr id="7" name="Picture 6" descr="system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667512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Hardware Selection &amp; Cost Optimization (AD8232 vs MyoWare)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500" b="1">
                <a:solidFill>
                  <a:srgbClr val="A01414"/>
                </a:solidFill>
              </a:defRPr>
            </a:pPr>
            <a:r>
              <a:t>1. 10x Front-End Cost Reduction (AD8232 vs. MyoWare 2.0):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Commercial Standard (MyoWare 2.0): ~$45 / channel -&gt; 4 channels = ~$180 (~6,000 TL), proprietary snap shields, costly replacement.</a:t>
            </a:r>
          </a:p>
          <a:p>
            <a:pPr>
              <a:defRPr sz="1300" b="0">
                <a:solidFill>
                  <a:srgbClr val="0A641E"/>
                </a:solidFill>
              </a:defRPr>
            </a:pPr>
            <a:r>
              <a:t>• Nuada Strategy (AD8232 Breakout): ~$3.50 / channel -&gt; 4 channels = ~$14 (~440 TL). Over 10x cost reduction for equivalent biopotential instrumentation specs!</a:t>
            </a:r>
          </a:p>
          <a:p>
            <a:pPr>
              <a:defRPr sz="1500" b="1">
                <a:solidFill>
                  <a:srgbClr val="0A328C"/>
                </a:solidFill>
              </a:defRPr>
            </a:pPr>
            <a:r>
              <a:t>2. Sensor Fusion Solves Limb Position Bias Without Extra Shoulder Sensors: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Raising/lowering the arm introduces gravity-induced muscle shift and gesture misclassification.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Rather than adding 2-4 expensive shoulder EMG sensors ($90-$180), we fuse 1x MPU-6050 6-axis IMU ($2.50) on the forearm, feeding pitch/roll angles into the TinyML feature vector.</a:t>
            </a:r>
          </a:p>
          <a:p>
            <a:pPr>
              <a:defRPr sz="1500" b="1">
                <a:solidFill>
                  <a:srgbClr val="6E288C"/>
                </a:solidFill>
              </a:defRPr>
            </a:pPr>
            <a:r>
              <a:t>3. Sustainable Multi-Subject Protocol (Snap Armband + Gel):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Disposable medical gel pads cost ~$15 per 50-pack and deplete in 6 subject sessions.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We custom-built an elastic armband with stainless-steel snap buttons + 250 ml conductive gel tube ($1.50) -&gt; Reusable across 100+ subjects with zero ongoing consumable cost.</a:t>
            </a:r>
          </a:p>
          <a:p>
            <a:pPr>
              <a:defRPr sz="1500" b="1">
                <a:solidFill>
                  <a:srgbClr val="B4500A"/>
                </a:solidFill>
              </a:defRPr>
            </a:pPr>
            <a:r>
              <a:t>4. Standalone Edge Intelligence (ESP32-S3):</a:t>
            </a:r>
          </a:p>
          <a:p>
            <a:pPr>
              <a:defRPr sz="1300" b="0">
                <a:solidFill>
                  <a:srgbClr val="282828"/>
                </a:solidFill>
              </a:defRPr>
            </a:pPr>
            <a:r>
              <a:t>• Dual-Core Xtensa LX7 @ 240 MHz + AI vector instructions ($7.50) eliminates external PC or Raspberry Pi ($50-$100).</a:t>
            </a:r>
          </a:p>
          <a:p>
            <a:pPr>
              <a:defRPr sz="1350" b="1">
                <a:solidFill>
                  <a:srgbClr val="A00A0A"/>
                </a:solidFill>
              </a:defRPr>
            </a:pPr>
            <a:r>
              <a:t>• COMPLETE HARDWARE KIT COST: Strictly under $30 (~₺950) vs. $300 - $500 commercial standard (&gt; 90% savings!).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Hardware Engineering: AD8232 EKG to sEMG Modification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>
                <a:solidFill>
                  <a:srgbClr val="A01414"/>
                </a:solidFill>
              </a:defRPr>
            </a:pPr>
            <a:r>
              <a:t>The Core Engineering Bottleneck:</a:t>
            </a:r>
            <a:endParaRPr lang="tr-TR" dirty="0"/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AD8232 is factory-tuned for heart ECG with a 0.5 Hz – 40 Hz passband.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Surface EMG spectral power spans 10 Hz – 450 Hz. A 40 Hz filter clips &gt; 90% of motor unit action potentials (MUAP)!</a:t>
            </a:r>
          </a:p>
          <a:p>
            <a:pPr>
              <a:defRPr sz="1400" b="1">
                <a:solidFill>
                  <a:srgbClr val="0A641E"/>
                </a:solidFill>
              </a:defRPr>
            </a:pPr>
            <a:r>
              <a:t>Sallen-Key Low-Pass Filter Rework (40 Hz -&gt; 410.9 Hz):</a:t>
            </a:r>
          </a:p>
          <a:p>
            <a:pPr>
              <a:defRPr sz="1200" b="1">
                <a:solidFill>
                  <a:srgbClr val="143278"/>
                </a:solidFill>
              </a:defRPr>
            </a:pPr>
            <a:r>
              <a:t>• Theoretical Formula: fc = 1 / (2 * pi * R * sqrt(C1 * C3))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C3 (0603 SMD / Mercimek 102): 10 nF -&gt; 1.0 nF (Mandatory)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C1 (0603 SMD / Mercimek 151/221): 1.5 nF -&gt; 150 pF (Mandatory)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Preserves system gain (1100x) and Q factor while opening the full sEMG bandwidth to 410.9 Hz.</a:t>
            </a:r>
          </a:p>
          <a:p>
            <a:pPr>
              <a:defRPr sz="1400" b="1">
                <a:solidFill>
                  <a:srgbClr val="00788C"/>
                </a:solidFill>
              </a:defRPr>
            </a:pPr>
            <a:r>
              <a:t>High-Pass Filter Stage (Motion Artifact Rejection):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C4 &amp; C6 (Large 0805 SMD): 0.33 µF -&gt; 10 nF shifts cutoff from 0.5 Hz to 15.9 Hz.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Alternatively, kept stock and motion artifacts rejected via software 20 Hz Butterworth HPF on ESP32-S3.</a:t>
            </a:r>
          </a:p>
          <a:p>
            <a:pPr>
              <a:defRPr sz="1350" b="1">
                <a:solidFill>
                  <a:srgbClr val="6E288C"/>
                </a:solidFill>
              </a:defRPr>
            </a:pPr>
            <a:r>
              <a:t>Through-Hole Mercimek Capacitor Innovation:</a:t>
            </a:r>
          </a:p>
          <a:p>
            <a:pPr>
              <a:defRPr sz="1200" b="0">
                <a:solidFill>
                  <a:srgbClr val="282828"/>
                </a:solidFill>
              </a:defRPr>
            </a:pPr>
            <a:r>
              <a:t>• Unmarked SMD capacitors cause inspection ambiguity. Using leaded capacitors with visible printed codes ("102" &amp; "221") guarantees 100% visual verification.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pic>
        <p:nvPicPr>
          <p:cNvPr id="7" name="Picture 6" descr="ad8232_gercek_kart_harit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76656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Circuit Layout Verification &amp; Laboratory Protocol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pic>
        <p:nvPicPr>
          <p:cNvPr id="7" name="Picture 6" descr="ad8232_emg_mod_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676656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Requirements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  <a:defRPr sz="1500" b="1">
                <a:solidFill>
                  <a:srgbClr val="0A328C"/>
                </a:solidFill>
              </a:defRPr>
            </a:pPr>
            <a:r>
              <a:t>1. Hardware Components &amp; Instrumentation: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Microcontroller: ESP32-S3-DevKitC-1 N16R8 (Dual Xtensa LX7 @ 240 MHz, 16 MB Flash, 8 MB PSRAM).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Analog Front-Ends: 4x AD8232 Biopotential Modules (1 modified prototype, 3 comparative).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Inertial Unit: 1x GY-521 MPU-6050 6-Axis IMU Module (I2C Fast-Mode).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Custom Electrodes: Elastic Velcro Armband with 8x Stainless Snap Fasteners + 250 ml Conductive Gel.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Actuation: 3-Finger 3D-Printed Bionic Hand Mechanism + 3x Micro Servos (SG90/MG90S).</a:t>
            </a:r>
          </a:p>
          <a:p>
            <a:pPr>
              <a:defRPr sz="1500" b="1">
                <a:solidFill>
                  <a:srgbClr val="006428"/>
                </a:solidFill>
              </a:defRPr>
            </a:pPr>
            <a:r>
              <a:t>2. Software Frameworks &amp; Toolchains: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Embedded: ESP-IDF v5.1 / Arduino-ESP32, FreeRTOS dual-task scheduler, ESP32 ADC1 DMA driver.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TinyML Engine: TensorFlow Lite for Microcontrollers (TFLite Micro) / ESP-DL.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Machine Learning Pipeline: Python 3.10+, PyTorch, Scikit-learn, SciPy (DSP filtering &amp; feature extraction).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3D Simulation: Three.js / WebGL Web Application with bi-directional WebSocket telemetry.</a:t>
            </a:r>
          </a:p>
          <a:p>
            <a:pPr>
              <a:defRPr sz="1500" b="1">
                <a:solidFill>
                  <a:srgbClr val="6E288C"/>
                </a:solidFill>
              </a:defRPr>
            </a:pPr>
            <a:r>
              <a:t>3. Experimental &amp; Laboratory Resources: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Human Participants: 10 healthy subjects (diverse forearm circumferences) under SENIAM 20 mm protocol.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Electronics Lab: Stereo microscope, temperature-controlled soldering station, digital multimeter, hot glue gun.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Concrete &amp; Testable Success Criteria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50" b="1">
                <a:solidFill>
                  <a:srgbClr val="0A328C"/>
                </a:solidFill>
              </a:defRPr>
            </a:pPr>
            <a:r>
              <a:t>Criterion 1: Gesture Classification Accuracy (Verifiable &amp; Quantitative)</a:t>
            </a:r>
            <a:endParaRPr lang="tr-TR" dirty="0"/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Target: Offline 10-fold cross-validation accuracy &gt;= 90% across 5 gesture classes.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On-device real-time prediction accuracy &gt;= 88% on unseen continuous evaluation trials.</a:t>
            </a:r>
          </a:p>
          <a:p>
            <a:pPr>
              <a:defRPr sz="1450" b="1">
                <a:solidFill>
                  <a:srgbClr val="006428"/>
                </a:solidFill>
              </a:defRPr>
            </a:pPr>
            <a:r>
              <a:t>Criterion 2: System Latency &amp; Real-Time Control Threshold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Target: On-device TinyML inference time &lt;= 25 ms on ESP32-S3.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Total end-to-end pipeline latency (sampling + DSP + inference + servo command) &lt;= 75 ms (well below human perceptual delay threshold of 100 - 150 ms).</a:t>
            </a:r>
          </a:p>
          <a:p>
            <a:pPr>
              <a:defRPr sz="1450" b="1">
                <a:solidFill>
                  <a:srgbClr val="A01414"/>
                </a:solidFill>
              </a:defRPr>
            </a:pPr>
            <a:r>
              <a:t>Criterion 3: Robustness to Arm Elevation &amp; Orientation (Limb Position Invariance)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Target: Classification accuracy maintained at &gt;= 85% when the arm is positioned at -45°, 0°, and +45° elevation, verified through MPU-6050 sensor fusion.</a:t>
            </a:r>
          </a:p>
          <a:p>
            <a:pPr>
              <a:defRPr sz="1450" b="1">
                <a:solidFill>
                  <a:srgbClr val="6E288C"/>
                </a:solidFill>
              </a:defRPr>
            </a:pPr>
            <a:r>
              <a:t>Criterion 4: Power Consumption &amp; Battery Autonomy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Target: Total operating current &lt;= 250 mA @ 3.3V (power &lt;= 0.85 W standby, &lt;= 1.5 W active servo actuation).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Minimum continuous battery runtime &gt;= 6 hours on a single 1200 mAh Li-Po cell.</a:t>
            </a:r>
          </a:p>
          <a:p>
            <a:pPr>
              <a:defRPr sz="1450" b="1">
                <a:solidFill>
                  <a:srgbClr val="B4500A"/>
                </a:solidFill>
              </a:defRPr>
            </a:pPr>
            <a:r>
              <a:t>Criterion 5: Hardware Cost &amp; Sustainability Constraint</a:t>
            </a:r>
          </a:p>
          <a:p>
            <a:pPr>
              <a:defRPr sz="1250" b="0">
                <a:solidFill>
                  <a:srgbClr val="282828"/>
                </a:solidFill>
              </a:defRPr>
            </a:pPr>
            <a:r>
              <a:t>• Target: Total electronic hardware BOM strictly under $30 (~₺950). 100% reusable snap-electrode armband with &lt; 50 kΩ skin-electrode impedance and zero single-use pad waste.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12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83464" y="283464"/>
            <a:ext cx="9756648" cy="758952"/>
          </a:xfrm>
        </p:spPr>
        <p:txBody>
          <a:bodyPr/>
          <a:lstStyle/>
          <a:p>
            <a:r>
              <a:t>Project Timeline &amp; Milestone Gantt Chart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  <p:pic>
        <p:nvPicPr>
          <p:cNvPr id="7" name="Picture 6" descr="project_timeline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8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" y="283464"/>
            <a:ext cx="9756648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1. Hermens, H. J., Freriks, B., Disselhorst-Klug, C., &amp; Rau, G., “Development of recommendations for SEMG sensors and sensor placement procedures (SENIAM)”, Journal of Electromyography and Kinesiology, 10(5), 361-374, 2000.</a:t>
            </a:r>
          </a:p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2. Analog Devices Inc., “AD8232: Single-Lead, Heart Rate Monitor Front End Data Sheet”, Rev. A, Analog Devices, Norwood, MA, 2013.</a:t>
            </a:r>
          </a:p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3. SparkFun Electronics, “SparkFun Single Lead Heart Rate Monitor (SEN-12650) Hardware Design Files, Eagle Schematics and Board Layouts”, Open-Source Hardware, 2014.</a:t>
            </a:r>
          </a:p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4. Phinyomark, A., Phukpattaranont, P., &amp; Limsakul, C., “Feature extraction and selection for machine learning with applications to myoelectric signal classification”, International Conference on Biomedical Engineering (ICBME), 2012.</a:t>
            </a:r>
          </a:p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5. Radmand, A., Scheme, E., &amp; Englehart, K., “High-density surface EMG-based gesture classification for prosthetic control: evaluation of limb position and orientation effects”, IEEE Transactions on Neural Systems and Rehabilitation Engineering, 24(7), 808-817, 2016.</a:t>
            </a:r>
          </a:p>
          <a:p>
            <a:pPr>
              <a:spcAft>
                <a:spcPts val="1400"/>
              </a:spcAft>
              <a:defRPr sz="1300">
                <a:solidFill>
                  <a:srgbClr val="282828"/>
                </a:solidFill>
              </a:defRPr>
            </a:pPr>
            <a:r>
              <a:t>6. Warden, P., &amp; Situnayake, D., “TinyML: Machine Learning with TensorFlow Lite on Arduino and Ultra-Low-Power Microcontrollers”, O'Reilly Media, Sebastopol, CA, 2019.</a:t>
            </a:r>
          </a:p>
        </p:txBody>
      </p:sp>
    </p:spTree>
    <p:extLst>
      <p:ext uri="{BB962C8B-B14F-4D97-AF65-F5344CB8AC3E}">
        <p14:creationId xmlns:p14="http://schemas.microsoft.com/office/powerpoint/2010/main" val="392018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3464" y="283464"/>
            <a:ext cx="9756648" cy="758952"/>
          </a:xfrm>
        </p:spPr>
        <p:txBody>
          <a:bodyPr/>
          <a:lstStyle/>
          <a:p>
            <a:r>
              <a:t>Project Summary &amp; Core Innovations</a:t>
            </a:r>
          </a:p>
        </p:txBody>
      </p:sp>
      <p:pic>
        <p:nvPicPr>
          <p:cNvPr id="8" name="Picture Placeholder 7" descr="bozdag_kayak_merkezinde_kar_keyfi_h2607.jpg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365760" y="1280160"/>
            <a:ext cx="11430000" cy="5029200"/>
          </a:xfrm>
        </p:spPr>
        <p:txBody>
          <a:bodyPr/>
          <a:lstStyle/>
          <a:p>
            <a:pPr>
              <a:defRPr sz="1600" b="1">
                <a:solidFill>
                  <a:srgbClr val="0A328C"/>
                </a:solidFill>
              </a:defRPr>
            </a:pPr>
            <a:r>
              <a:t>Key Innovations of Nuada: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Ultra-Affordable Bionic Control: Demonstrated feasibility of a strictly &lt; $30 hardware kit replacing $10,000+ commercial prostheses.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Inertial Sensor Fusion: Fusing 4-channel sEMG with 6-axis IMU solves the fundamental limb position problem without adding bulky shoulder sensors.</a:t>
            </a:r>
          </a:p>
          <a:p>
            <a:pPr>
              <a:defRPr sz="1350" b="0">
                <a:solidFill>
                  <a:srgbClr val="0A641E"/>
                </a:solidFill>
              </a:defRPr>
            </a:pPr>
            <a:r>
              <a:t>• Hardware Engineering (AD8232 Mod): Converting $3.50 ECG front-ends to 410 Hz sEMG delivers 10x savings over commercial MyoWare sensors.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Sustainable Multi-Subject Protocol: Reusable snap-button armband + conductive gel eliminates consumable waste across 100+ subjects.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Standalone Edge Computing: Dual-core FreeRTOS pipeline on ESP32-S3 guarantees &lt; 25 ms inference with zero cloud dependency.</a:t>
            </a:r>
          </a:p>
          <a:p>
            <a:pPr>
              <a:defRPr sz="1600" b="1">
                <a:solidFill>
                  <a:srgbClr val="6E288C"/>
                </a:solidFill>
              </a:defRPr>
            </a:pPr>
            <a:r>
              <a:t>Expected Deliverables: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Fully functioning 3-finger (Thumb, Index, Middle) 3D-printed bionic hand reacting in real time (&lt; 75 ms end-to-end).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Interactive WebGL 3D Digital Twin simulation accessible from any browser via WebSocket.</a:t>
            </a:r>
          </a:p>
          <a:p>
            <a:pPr>
              <a:defRPr sz="1350" b="0">
                <a:solidFill>
                  <a:srgbClr val="282828"/>
                </a:solidFill>
              </a:defRPr>
            </a:pPr>
            <a:r>
              <a:t>• Comprehensive academic graduation thesis and comparative benchmark dataset.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3339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83464" y="283464"/>
            <a:ext cx="9756648" cy="758952"/>
          </a:xfrm>
        </p:spPr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371600" y="1645920"/>
            <a:ext cx="9418320" cy="4389120"/>
          </a:xfrm>
        </p:spPr>
        <p:txBody>
          <a:bodyPr/>
          <a:lstStyle/>
          <a:p>
            <a:pPr algn="ctr">
              <a:defRPr sz="2800" b="1">
                <a:solidFill>
                  <a:srgbClr val="0A2864"/>
                </a:solidFill>
              </a:defRPr>
            </a:pPr>
            <a:r>
              <a:t>Thank You for Your Attention!</a:t>
            </a:r>
            <a:endParaRPr lang="tr-TR"/>
          </a:p>
          <a:p>
            <a:pPr algn="ctr">
              <a:defRPr sz="14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2000" b="1">
                <a:solidFill>
                  <a:srgbClr val="143278"/>
                </a:solidFill>
              </a:defRPr>
            </a:pPr>
            <a:r>
              <a:t>Nuada: Bionic Hand Movement Estimation via TinyML</a:t>
            </a:r>
          </a:p>
          <a:p>
            <a:pPr algn="ctr">
              <a:defRPr sz="1600" b="0">
                <a:solidFill>
                  <a:srgbClr val="505050"/>
                </a:solidFill>
              </a:defRPr>
            </a:pPr>
            <a:r>
              <a:t>CSE 496 - Graduation Project Proposal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282828"/>
                </a:solidFill>
              </a:defRPr>
            </a:pPr>
            <a:r>
              <a:t>Researchers:</a:t>
            </a:r>
          </a:p>
          <a:p>
            <a:pPr algn="ctr">
              <a:defRPr sz="1500" b="0">
                <a:solidFill>
                  <a:srgbClr val="323232"/>
                </a:solidFill>
              </a:defRPr>
            </a:pPr>
            <a:r>
              <a:t>Nuri Ziya Kırtepe (nuriziyak@gmail.com)</a:t>
            </a:r>
          </a:p>
          <a:p>
            <a:pPr algn="ctr">
              <a:defRPr sz="1500" b="0">
                <a:solidFill>
                  <a:srgbClr val="323232"/>
                </a:solidFill>
              </a:defRPr>
            </a:pPr>
            <a:r>
              <a:t>Evrim Doğa Solmaz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282828"/>
                </a:solidFill>
              </a:defRPr>
            </a:pPr>
            <a:r>
              <a:t>Advisor: Asst. Prof. Alp Arslan Bayrakci</a:t>
            </a:r>
          </a:p>
          <a:p>
            <a:pPr algn="ctr">
              <a:defRPr sz="1400" b="0">
                <a:solidFill>
                  <a:srgbClr val="505050"/>
                </a:solidFill>
              </a:defRPr>
            </a:pPr>
            <a:r>
              <a:t>Department of Computer Engineering, Gebze Technical University</a:t>
            </a:r>
          </a:p>
          <a:p>
            <a:pPr algn="ctr">
              <a:defRPr sz="14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A01414"/>
                </a:solidFill>
              </a:defRPr>
            </a:pPr>
            <a:r>
              <a:t>We welcome your questions, feedback, and committee guidance.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371600" y="1645920"/>
            <a:ext cx="9418320" cy="4389120"/>
          </a:xfrm>
        </p:spPr>
        <p:txBody>
          <a:bodyPr/>
          <a:lstStyle/>
          <a:p>
            <a:pPr algn="ctr">
              <a:defRPr sz="2800" b="1">
                <a:solidFill>
                  <a:srgbClr val="0A2864"/>
                </a:solidFill>
              </a:defRPr>
            </a:pPr>
            <a:r>
              <a:t>Thank You for Your Attention!</a:t>
            </a:r>
            <a:endParaRPr lang="tr-TR"/>
          </a:p>
          <a:p>
            <a:pPr algn="ctr">
              <a:defRPr sz="14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2000" b="1">
                <a:solidFill>
                  <a:srgbClr val="143278"/>
                </a:solidFill>
              </a:defRPr>
            </a:pPr>
            <a:r>
              <a:t>Nuada: Bionic Hand Movement Estimation via TinyML</a:t>
            </a:r>
          </a:p>
          <a:p>
            <a:pPr algn="ctr">
              <a:defRPr sz="1600" b="0">
                <a:solidFill>
                  <a:srgbClr val="505050"/>
                </a:solidFill>
              </a:defRPr>
            </a:pPr>
            <a:r>
              <a:t>CSE 496 - Graduation Project Proposal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282828"/>
                </a:solidFill>
              </a:defRPr>
            </a:pPr>
            <a:r>
              <a:t>Researchers:</a:t>
            </a:r>
          </a:p>
          <a:p>
            <a:pPr algn="ctr">
              <a:defRPr sz="1500" b="0">
                <a:solidFill>
                  <a:srgbClr val="323232"/>
                </a:solidFill>
              </a:defRPr>
            </a:pPr>
            <a:r>
              <a:t>Nuri Ziya Kırtepe (nuriziyak@gmail.com)</a:t>
            </a:r>
          </a:p>
          <a:p>
            <a:pPr algn="ctr">
              <a:defRPr sz="1500" b="0">
                <a:solidFill>
                  <a:srgbClr val="323232"/>
                </a:solidFill>
              </a:defRPr>
            </a:pPr>
            <a:r>
              <a:t>Evrim Doğa Solmaz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282828"/>
                </a:solidFill>
              </a:defRPr>
            </a:pPr>
            <a:r>
              <a:t>Advisor: Asst. Prof. Alp Arslan Bayrakci</a:t>
            </a:r>
          </a:p>
          <a:p>
            <a:pPr algn="ctr">
              <a:defRPr sz="1400" b="0">
                <a:solidFill>
                  <a:srgbClr val="505050"/>
                </a:solidFill>
              </a:defRPr>
            </a:pPr>
            <a:r>
              <a:t>Department of Computer Engineering, Gebze Technical University</a:t>
            </a:r>
          </a:p>
          <a:p>
            <a:pPr algn="ctr">
              <a:defRPr sz="1400" b="0">
                <a:solidFill>
                  <a:srgbClr val="000000"/>
                </a:solidFill>
              </a:defRPr>
            </a:pPr>
            <a:r>
              <a:t> </a:t>
            </a:r>
          </a:p>
          <a:p>
            <a:pPr algn="ctr">
              <a:defRPr sz="1600" b="1">
                <a:solidFill>
                  <a:srgbClr val="A01414"/>
                </a:solidFill>
              </a:defRPr>
            </a:pPr>
            <a:r>
              <a:t>We welcome your questions, feedback, and committee guidance.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12.10.2026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CSE496 – First Presentation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9360324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E8C5825EF27C364DB690A9A179C6699B" ma:contentTypeVersion="3" ma:contentTypeDescription="Yeni belge oluşturun." ma:contentTypeScope="" ma:versionID="678bc6006b41744c2d2e9ab54cb452cf">
  <xsd:schema xmlns:xsd="http://www.w3.org/2001/XMLSchema" xmlns:xs="http://www.w3.org/2001/XMLSchema" xmlns:p="http://schemas.microsoft.com/office/2006/metadata/properties" xmlns:ns2="e581db19-dcb7-414a-b19e-e128de908ae9" targetNamespace="http://schemas.microsoft.com/office/2006/metadata/properties" ma:root="true" ma:fieldsID="f09ca2a628926710973751604a303ff9" ns2:_="">
    <xsd:import namespace="e581db19-dcb7-414a-b19e-e128de908a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81db19-dcb7-414a-b19e-e128de908a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991880-A467-4AEE-93CD-3BADC1FB4D6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8B752F-6189-46F9-A6FE-EDDC2BE19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81db19-dcb7-414a-b19e-e128de908a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8760F0-3699-43DC-83B6-0C5533C50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559</Words>
  <Application>Microsoft Office PowerPoint</Application>
  <PresentationFormat>Geniş ekran</PresentationFormat>
  <Paragraphs>84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4" baseType="lpstr">
      <vt:lpstr>GTU-ŞABLON-1</vt:lpstr>
      <vt:lpstr>The Title of Graduation Project</vt:lpstr>
      <vt:lpstr>Contents</vt:lpstr>
      <vt:lpstr>Project Definition</vt:lpstr>
      <vt:lpstr>Project Design</vt:lpstr>
      <vt:lpstr>Success Criteria</vt:lpstr>
      <vt:lpstr>Project Requirements</vt:lpstr>
      <vt:lpstr>Project Timeline</vt:lpstr>
      <vt:lpstr>References</vt:lpstr>
      <vt:lpstr>More types of slide</vt:lpstr>
      <vt:lpstr>PowerPoint Sunusu</vt:lpstr>
      <vt:lpstr>PowerPoint Sunusu</vt:lpstr>
      <vt:lpstr>Bozdağ kayak merkezi</vt:lpstr>
      <vt:lpstr>PowerPoint Sunusu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user</cp:lastModifiedBy>
  <cp:revision>22</cp:revision>
  <dcterms:created xsi:type="dcterms:W3CDTF">2015-02-28T16:59:24Z</dcterms:created>
  <dcterms:modified xsi:type="dcterms:W3CDTF">2026-10-12T11:41:04Z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0x010100E8C5825EF27C364DB690A9A179C6699B</vt:lpwstr>
  </property>
</Properties>
</file>